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6" r:id="rId3"/>
    <p:sldId id="257" r:id="rId4"/>
    <p:sldId id="265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4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 Azoulay" userId="55020d8e-7ce5-45fc-8049-a10c4b65aa4e" providerId="ADAL" clId="{95E835BD-8D55-4355-99CD-039F2C6029AB}"/>
    <pc:docChg chg="addSld modSld sldOrd">
      <pc:chgData name="Ran Azoulay" userId="55020d8e-7ce5-45fc-8049-a10c4b65aa4e" providerId="ADAL" clId="{95E835BD-8D55-4355-99CD-039F2C6029AB}" dt="2026-04-30T08:24:23.382" v="5"/>
      <pc:docMkLst>
        <pc:docMk/>
      </pc:docMkLst>
      <pc:sldChg chg="add ord setBg">
        <pc:chgData name="Ran Azoulay" userId="55020d8e-7ce5-45fc-8049-a10c4b65aa4e" providerId="ADAL" clId="{95E835BD-8D55-4355-99CD-039F2C6029AB}" dt="2026-04-29T11:04:38.644" v="4"/>
        <pc:sldMkLst>
          <pc:docMk/>
          <pc:sldMk cId="334241348" sldId="257"/>
        </pc:sldMkLst>
      </pc:sldChg>
      <pc:sldChg chg="add ord setBg">
        <pc:chgData name="Ran Azoulay" userId="55020d8e-7ce5-45fc-8049-a10c4b65aa4e" providerId="ADAL" clId="{95E835BD-8D55-4355-99CD-039F2C6029AB}" dt="2026-04-29T11:04:32.173" v="2"/>
        <pc:sldMkLst>
          <pc:docMk/>
          <pc:sldMk cId="0" sldId="266"/>
        </pc:sldMkLst>
      </pc:sldChg>
      <pc:sldChg chg="add">
        <pc:chgData name="Ran Azoulay" userId="55020d8e-7ce5-45fc-8049-a10c4b65aa4e" providerId="ADAL" clId="{95E835BD-8D55-4355-99CD-039F2C6029AB}" dt="2026-04-30T08:24:23.382" v="5"/>
        <pc:sldMkLst>
          <pc:docMk/>
          <pc:sldMk cId="0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8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Arial"/>
              </a:rPr>
              <a:t>SMART 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8476" y="3474720"/>
            <a:ext cx="45720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10360152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מערכת ניהול חכם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8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UNICO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8C00"/>
                </a:solidFill>
                <a:latin typeface="Arial"/>
              </a:rPr>
              <a:t>New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000" b="1" dirty="0" err="1">
                <a:solidFill>
                  <a:srgbClr val="FFFFFF"/>
                </a:solidFill>
                <a:latin typeface="Arial"/>
              </a:rPr>
              <a:t>מערכת</a:t>
            </a:r>
            <a:r>
              <a:rPr sz="3000" b="1" dirty="0">
                <a:solidFill>
                  <a:srgbClr val="FFFFFF"/>
                </a:solidFill>
                <a:latin typeface="Arial"/>
              </a:rPr>
              <a:t> ניהול </a:t>
            </a:r>
            <a:r>
              <a:rPr sz="3000" b="1" dirty="0" err="1">
                <a:solidFill>
                  <a:srgbClr val="FFFFFF"/>
                </a:solidFill>
                <a:latin typeface="Arial"/>
              </a:rPr>
              <a:t>שטח</a:t>
            </a:r>
            <a:r>
              <a:rPr sz="30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he-IL" sz="3000" b="1" dirty="0">
                <a:solidFill>
                  <a:srgbClr val="FFFFFF"/>
                </a:solidFill>
                <a:latin typeface="Arial"/>
              </a:rPr>
              <a:t>- </a:t>
            </a:r>
            <a:r>
              <a:rPr sz="3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Arial"/>
              </a:rPr>
              <a:t>מצגת</a:t>
            </a:r>
            <a:r>
              <a:rPr sz="3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Arial"/>
              </a:rPr>
              <a:t>מוצר</a:t>
            </a:r>
            <a:r>
              <a:rPr lang="he-IL" sz="3000" b="1" dirty="0">
                <a:solidFill>
                  <a:srgbClr val="FFFFFF"/>
                </a:solidFill>
                <a:latin typeface="Arial"/>
              </a:rPr>
              <a:t> ויכולת </a:t>
            </a:r>
            <a:endParaRPr sz="3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>
                <a:solidFill>
                  <a:srgbClr val="BBCCFF"/>
                </a:solidFill>
                <a:latin typeface="Arial"/>
              </a:rPr>
              <a:t>ניהול </a:t>
            </a:r>
            <a:r>
              <a:rPr sz="1800" b="0" dirty="0" err="1">
                <a:solidFill>
                  <a:srgbClr val="BBCCFF"/>
                </a:solidFill>
                <a:latin typeface="Arial"/>
              </a:rPr>
              <a:t>ביקורי</a:t>
            </a:r>
            <a:r>
              <a:rPr sz="1800" b="0" dirty="0">
                <a:solidFill>
                  <a:srgbClr val="BBCC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BBCCFF"/>
                </a:solidFill>
                <a:latin typeface="Arial"/>
              </a:rPr>
              <a:t>סוכנים</a:t>
            </a:r>
            <a:r>
              <a:rPr sz="1800" b="0" dirty="0">
                <a:solidFill>
                  <a:srgbClr val="BBCCFF"/>
                </a:solidFill>
                <a:latin typeface="Arial"/>
              </a:rPr>
              <a:t> </a:t>
            </a:r>
            <a:r>
              <a:rPr lang="he-IL" sz="1800" b="0" dirty="0">
                <a:solidFill>
                  <a:srgbClr val="BBCCFF"/>
                </a:solidFill>
                <a:latin typeface="Arial"/>
              </a:rPr>
              <a:t> </a:t>
            </a:r>
            <a:r>
              <a:rPr sz="1800" b="0" dirty="0">
                <a:solidFill>
                  <a:srgbClr val="BBCCFF"/>
                </a:solidFill>
                <a:latin typeface="Arial"/>
              </a:rPr>
              <a:t>| </a:t>
            </a:r>
            <a:r>
              <a:rPr lang="he-IL" sz="1800" b="0" dirty="0">
                <a:solidFill>
                  <a:srgbClr val="BBCC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BBCCFF"/>
                </a:solidFill>
                <a:latin typeface="Arial"/>
              </a:rPr>
              <a:t>מעקב</a:t>
            </a:r>
            <a:r>
              <a:rPr sz="1800" b="0" dirty="0">
                <a:solidFill>
                  <a:srgbClr val="BBCC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BBCCFF"/>
                </a:solidFill>
                <a:latin typeface="Arial"/>
              </a:rPr>
              <a:t>חנויות</a:t>
            </a:r>
            <a:r>
              <a:rPr sz="1800" b="0" dirty="0">
                <a:solidFill>
                  <a:srgbClr val="BBCCFF"/>
                </a:solidFill>
                <a:latin typeface="Arial"/>
              </a:rPr>
              <a:t> | </a:t>
            </a:r>
            <a:r>
              <a:rPr lang="he-IL" sz="1800" b="0" dirty="0">
                <a:solidFill>
                  <a:srgbClr val="BBCC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BBCCFF"/>
                </a:solidFill>
                <a:latin typeface="Arial"/>
              </a:rPr>
              <a:t>דוחות</a:t>
            </a:r>
            <a:r>
              <a:rPr sz="1800" b="0" dirty="0">
                <a:solidFill>
                  <a:srgbClr val="BBCCFF"/>
                </a:solidFill>
                <a:latin typeface="Arial"/>
              </a:rPr>
              <a:t> מנהל | </a:t>
            </a:r>
            <a:r>
              <a:rPr sz="1800" b="0" dirty="0" err="1">
                <a:solidFill>
                  <a:srgbClr val="BBCCFF"/>
                </a:solidFill>
                <a:latin typeface="Arial"/>
              </a:rPr>
              <a:t>התראות</a:t>
            </a:r>
            <a:r>
              <a:rPr sz="1800" b="0" dirty="0">
                <a:solidFill>
                  <a:srgbClr val="BBCC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BBCCFF"/>
                </a:solidFill>
                <a:latin typeface="Arial"/>
              </a:rPr>
              <a:t>בזמן</a:t>
            </a:r>
            <a:r>
              <a:rPr sz="1800" b="0" dirty="0">
                <a:solidFill>
                  <a:srgbClr val="BBCC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BBCCFF"/>
                </a:solidFill>
                <a:latin typeface="Arial"/>
              </a:rPr>
              <a:t>אמת</a:t>
            </a:r>
            <a:endParaRPr sz="1800" b="0" dirty="0">
              <a:solidFill>
                <a:srgbClr val="BBCCF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99BB"/>
                </a:solidFill>
                <a:latin typeface="Arial"/>
              </a:rPr>
              <a:t>אפריל 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074C3F-F477-4EAC-8D96-7AC519C4D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931" y="154300"/>
            <a:ext cx="1611398" cy="6828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he-IL" sz="2800" b="1" i="0" dirty="0">
                <a:solidFill>
                  <a:srgbClr val="FFFFFF"/>
                </a:solidFill>
                <a:latin typeface="Arial"/>
              </a:rPr>
              <a:t>האתגרים היומיומיים בעבודה ללא מעקב נכון</a:t>
            </a:r>
            <a:endParaRPr sz="28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50556" y="960120"/>
            <a:ext cx="5760720" cy="5577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50556" y="960120"/>
            <a:ext cx="5760720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50556" y="1014984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האתגרים ללא האפליקציה</a:t>
            </a:r>
          </a:p>
        </p:txBody>
      </p:sp>
      <p:sp>
        <p:nvSpPr>
          <p:cNvPr id="7" name="Rectangle 6"/>
          <p:cNvSpPr/>
          <p:nvPr/>
        </p:nvSpPr>
        <p:spPr>
          <a:xfrm>
            <a:off x="3287716" y="1627632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87716" y="157276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6044" y="146304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0392B"/>
                </a:solidFill>
                <a:latin typeface="Arial"/>
              </a:rPr>
              <a:t>חוסר שקיפות בשטח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6044" y="1709928"/>
            <a:ext cx="5166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1A1A2E"/>
                </a:solidFill>
                <a:latin typeface="Arial"/>
              </a:rPr>
              <a:t>מנהלים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לא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יודעים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מה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קורה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בזמן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אמת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lang="en-IL" sz="1200" b="0" i="0" dirty="0">
                <a:solidFill>
                  <a:srgbClr val="1A1A2E"/>
                </a:solidFill>
                <a:latin typeface="Arial"/>
              </a:rPr>
              <a:t>-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ביקורים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,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הזמנות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ובעיות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נגלים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רק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בדיעבד</a:t>
            </a:r>
            <a:endParaRPr sz="1200" b="0" i="0" dirty="0">
              <a:solidFill>
                <a:srgbClr val="1A1A2E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87716" y="2450592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87716" y="239572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6044" y="228600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0392B"/>
                </a:solidFill>
                <a:latin typeface="Arial"/>
              </a:rPr>
              <a:t>תיעוד מפוזר ולא אחיד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6044" y="2532888"/>
            <a:ext cx="5166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1A1A2E"/>
                </a:solidFill>
                <a:latin typeface="Arial"/>
              </a:rPr>
              <a:t>מידע על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לקוחות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מפוזר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בין</a:t>
            </a:r>
            <a:r>
              <a:rPr lang="he-IL" sz="120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WhatsApp, </a:t>
            </a:r>
            <a:r>
              <a:rPr lang="he-IL" sz="1200" b="0" i="0" dirty="0">
                <a:solidFill>
                  <a:srgbClr val="1A1A2E"/>
                </a:solidFill>
                <a:latin typeface="Arial"/>
              </a:rPr>
              <a:t> ,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אקסל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ודוחות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נייר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lang="en-IL" sz="1200" b="0" i="0" dirty="0">
                <a:solidFill>
                  <a:srgbClr val="1A1A2E"/>
                </a:solidFill>
                <a:latin typeface="Arial"/>
              </a:rPr>
              <a:t>–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lang="he-IL" sz="1200" b="0" i="0" dirty="0">
                <a:solidFill>
                  <a:srgbClr val="1A1A2E"/>
                </a:solidFill>
                <a:latin typeface="Arial"/>
              </a:rPr>
              <a:t>איבוד מידע קריטי</a:t>
            </a:r>
            <a:endParaRPr sz="1200" b="0" i="0" dirty="0">
              <a:solidFill>
                <a:srgbClr val="1A1A2E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87716" y="3273552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87716" y="321868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6044" y="310896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0392B"/>
                </a:solidFill>
                <a:latin typeface="Arial"/>
              </a:rPr>
              <a:t>תגובה איטית לבעיות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6044" y="3355848"/>
            <a:ext cx="5166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1A1A2E"/>
                </a:solidFill>
                <a:latin typeface="Arial"/>
              </a:rPr>
              <a:t>התראות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על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חריגות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ואירועים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בשטח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מגיעות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מאוחר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מדי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ומקשות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על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פעולה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מהירה</a:t>
            </a:r>
            <a:r>
              <a:rPr lang="he-IL" sz="1200" b="0" i="0" dirty="0">
                <a:solidFill>
                  <a:srgbClr val="1A1A2E"/>
                </a:solidFill>
                <a:latin typeface="Arial"/>
              </a:rPr>
              <a:t> ומיידית</a:t>
            </a:r>
            <a:endParaRPr sz="1200" b="0" i="0" dirty="0">
              <a:solidFill>
                <a:srgbClr val="1A1A2E"/>
              </a:solidFill>
              <a:latin typeface="Aria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87716" y="4096512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87716" y="404164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6044" y="393192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0392B"/>
                </a:solidFill>
                <a:latin typeface="Arial"/>
              </a:rPr>
              <a:t>קושי במעקב אחר נציגים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6044" y="4178808"/>
            <a:ext cx="5166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1A1A2E"/>
                </a:solidFill>
                <a:latin typeface="Arial"/>
              </a:rPr>
              <a:t>אין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נראות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לביקורים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שבוצעו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,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יעדים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שהושגו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,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ונציגים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שזקוקים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לסיוע</a:t>
            </a:r>
            <a:endParaRPr sz="1200" b="0" i="0" dirty="0">
              <a:solidFill>
                <a:srgbClr val="1A1A2E"/>
              </a:solidFill>
              <a:latin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87716" y="4919472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87716" y="486460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6044" y="475488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0392B"/>
                </a:solidFill>
                <a:latin typeface="Arial"/>
              </a:rPr>
              <a:t>אובדן ידע על לקוחות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6044" y="5001768"/>
            <a:ext cx="5166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1A1A2E"/>
                </a:solidFill>
                <a:latin typeface="Arial"/>
              </a:rPr>
              <a:t>הערות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,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תובנות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והיסטוריית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שיחות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לא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נשמרות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lang="en-IL" sz="1200" b="0" i="0" dirty="0">
                <a:solidFill>
                  <a:srgbClr val="1A1A2E"/>
                </a:solidFill>
                <a:latin typeface="Arial"/>
              </a:rPr>
              <a:t>-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כל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נציג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מתחיל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מאפס</a:t>
            </a:r>
            <a:endParaRPr sz="1200" b="0" i="0" dirty="0">
              <a:solidFill>
                <a:srgbClr val="1A1A2E"/>
              </a:solidFill>
              <a:latin typeface="Aria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UNICO Sales App  |  פתרון ניהול שטח חכם</a:t>
            </a:r>
          </a:p>
        </p:txBody>
      </p:sp>
    </p:spTree>
    <p:extLst>
      <p:ext uri="{BB962C8B-B14F-4D97-AF65-F5344CB8AC3E}">
        <p14:creationId xmlns:p14="http://schemas.microsoft.com/office/powerpoint/2010/main" val="334241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800" b="1">
                <a:solidFill>
                  <a:srgbClr val="FFFFFF"/>
                </a:solidFill>
                <a:latin typeface="Arial"/>
              </a:rPr>
              <a:t>UNICO Sales App </a:t>
            </a:r>
            <a:endParaRPr lang="en-US" sz="1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200" b="1" dirty="0">
                <a:solidFill>
                  <a:srgbClr val="FFFFFF"/>
                </a:solidFill>
                <a:latin typeface="Arial"/>
              </a:rPr>
              <a:t>UNICO Sales App</a:t>
            </a:r>
            <a:r>
              <a:rPr lang="he-IL" sz="3200" b="1" dirty="0">
                <a:solidFill>
                  <a:srgbClr val="FFFFFF"/>
                </a:solidFill>
                <a:latin typeface="Arial"/>
              </a:rPr>
              <a:t> </a:t>
            </a:r>
            <a:endParaRPr sz="3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dirty="0" err="1">
                <a:solidFill>
                  <a:srgbClr val="BBCCFF"/>
                </a:solidFill>
                <a:latin typeface="Arial"/>
              </a:rPr>
              <a:t>פתרון</a:t>
            </a:r>
            <a:r>
              <a:rPr sz="1600" b="0" dirty="0">
                <a:solidFill>
                  <a:srgbClr val="BBCC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BBCCFF"/>
                </a:solidFill>
                <a:latin typeface="Arial"/>
              </a:rPr>
              <a:t>דיגיטלי</a:t>
            </a:r>
            <a:r>
              <a:rPr sz="1600" b="0" dirty="0">
                <a:solidFill>
                  <a:srgbClr val="BBCC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BBCCFF"/>
                </a:solidFill>
                <a:latin typeface="Arial"/>
              </a:rPr>
              <a:t>מלא</a:t>
            </a:r>
            <a:r>
              <a:rPr sz="1600" b="0" dirty="0">
                <a:solidFill>
                  <a:srgbClr val="BBCC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BBCCFF"/>
                </a:solidFill>
                <a:latin typeface="Arial"/>
              </a:rPr>
              <a:t>לניהול</a:t>
            </a:r>
            <a:r>
              <a:rPr lang="he-IL" sz="1600" b="0" dirty="0">
                <a:solidFill>
                  <a:srgbClr val="BBCCFF"/>
                </a:solidFill>
                <a:latin typeface="Arial"/>
              </a:rPr>
              <a:t> ומעקב</a:t>
            </a:r>
            <a:r>
              <a:rPr sz="1600" b="0" dirty="0">
                <a:solidFill>
                  <a:srgbClr val="BBCC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BBCCFF"/>
                </a:solidFill>
                <a:latin typeface="Arial"/>
              </a:rPr>
              <a:t>סוכני</a:t>
            </a:r>
            <a:r>
              <a:rPr sz="1600" b="0" dirty="0">
                <a:solidFill>
                  <a:srgbClr val="BBCC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BBCCFF"/>
                </a:solidFill>
                <a:latin typeface="Arial"/>
              </a:rPr>
              <a:t>שטח</a:t>
            </a:r>
            <a:endParaRPr sz="1600" b="0" dirty="0">
              <a:solidFill>
                <a:srgbClr val="BBCCFF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DD"/>
                </a:solidFill>
                <a:latin typeface="Arial"/>
              </a:rPr>
              <a:t>UNICO Sales App — מערכת ניהול שטח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371600"/>
            <a:ext cx="2651760" cy="4114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dirty="0">
                <a:solidFill>
                  <a:srgbClr val="0D2D6B"/>
                </a:solidFill>
                <a:latin typeface="Arial"/>
              </a:rPr>
              <a:t>⏱ </a:t>
            </a:r>
            <a:r>
              <a:rPr sz="1400" b="1" dirty="0" err="1">
                <a:solidFill>
                  <a:srgbClr val="0D2D6B"/>
                </a:solidFill>
                <a:latin typeface="Arial"/>
              </a:rPr>
              <a:t>חיסכון</a:t>
            </a:r>
            <a:r>
              <a:rPr sz="1400" b="1" dirty="0">
                <a:solidFill>
                  <a:srgbClr val="0D2D6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D2D6B"/>
                </a:solidFill>
                <a:latin typeface="Arial"/>
              </a:rPr>
              <a:t>בזמן</a:t>
            </a:r>
            <a:endParaRPr sz="1400" b="1" dirty="0">
              <a:solidFill>
                <a:srgbClr val="0D2D6B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" y="1783080"/>
            <a:ext cx="265176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רישום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ביקור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בלחיצה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אחת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אין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דפים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ואין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מייל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– הכל</a:t>
            </a:r>
            <a:r>
              <a:rPr lang="en-US" sz="1300" dirty="0">
                <a:solidFill>
                  <a:srgbClr val="223355"/>
                </a:solidFill>
                <a:latin typeface="Arial"/>
              </a:rPr>
              <a:t> 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אפליקטיבי</a:t>
            </a:r>
            <a:endParaRPr lang="en-US"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lang="he-IL" sz="1300" dirty="0">
                <a:solidFill>
                  <a:srgbClr val="223355"/>
                </a:solidFill>
                <a:latin typeface="Arial"/>
              </a:rPr>
              <a:t> ◀ כל סוכן יודע מראש את </a:t>
            </a:r>
            <a:r>
              <a:rPr lang="he-IL" sz="1300" dirty="0" err="1">
                <a:solidFill>
                  <a:srgbClr val="223355"/>
                </a:solidFill>
                <a:latin typeface="Arial"/>
              </a:rPr>
              <a:t>הלו"ז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היומי שלו</a:t>
            </a:r>
          </a:p>
          <a:p>
            <a:pPr algn="r" rtl="1"/>
            <a:r>
              <a:rPr lang="he-IL" sz="1300" dirty="0">
                <a:solidFill>
                  <a:srgbClr val="223355"/>
                </a:solidFill>
                <a:latin typeface="Arial"/>
              </a:rPr>
              <a:t>◀ רישום ביקור בלחיצה אחת</a:t>
            </a:r>
          </a:p>
          <a:p>
            <a:pPr algn="r" rtl="1"/>
            <a:endParaRPr lang="he-IL" sz="1300" dirty="0">
              <a:solidFill>
                <a:srgbClr val="223355"/>
              </a:solidFill>
              <a:latin typeface="Arial"/>
            </a:endParaRPr>
          </a:p>
          <a:p>
            <a:pPr algn="r" rtl="1"/>
            <a:endParaRPr sz="1300" dirty="0">
              <a:solidFill>
                <a:srgbClr val="223355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54680" y="1384151"/>
            <a:ext cx="2651760" cy="41148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dirty="0">
                <a:solidFill>
                  <a:srgbClr val="0D2D6B"/>
                </a:solidFill>
                <a:latin typeface="Arial"/>
              </a:rPr>
              <a:t>📊 </a:t>
            </a:r>
            <a:r>
              <a:rPr sz="1400" b="1" dirty="0" err="1">
                <a:solidFill>
                  <a:srgbClr val="0D2D6B"/>
                </a:solidFill>
                <a:latin typeface="Arial"/>
              </a:rPr>
              <a:t>שקיפות</a:t>
            </a:r>
            <a:r>
              <a:rPr sz="1400" b="1" dirty="0">
                <a:solidFill>
                  <a:srgbClr val="0D2D6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D2D6B"/>
                </a:solidFill>
                <a:latin typeface="Arial"/>
              </a:rPr>
              <a:t>מלאה</a:t>
            </a:r>
            <a:endParaRPr sz="1400" b="1" dirty="0">
              <a:solidFill>
                <a:srgbClr val="0D2D6B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91840" y="1783080"/>
            <a:ext cx="23774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מנהל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רואה</a:t>
            </a:r>
            <a:r>
              <a:rPr sz="1300" dirty="0">
                <a:solidFill>
                  <a:srgbClr val="223355"/>
                </a:solidFill>
                <a:latin typeface="Arial"/>
              </a:rPr>
              <a:t> הכל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בזמן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אמת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היסטוריה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לכל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חנות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דוחות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אקסל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אוטומטיים</a:t>
            </a:r>
            <a:endParaRPr sz="1300" dirty="0">
              <a:solidFill>
                <a:srgbClr val="223355"/>
              </a:solidFill>
              <a:latin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80760" y="1371600"/>
            <a:ext cx="2651760" cy="4114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dirty="0">
                <a:solidFill>
                  <a:srgbClr val="0D2D6B"/>
                </a:solidFill>
                <a:latin typeface="Arial"/>
              </a:rPr>
              <a:t>💬 </a:t>
            </a:r>
            <a:r>
              <a:rPr sz="1400" b="1" dirty="0" err="1">
                <a:solidFill>
                  <a:srgbClr val="0D2D6B"/>
                </a:solidFill>
                <a:latin typeface="Arial"/>
              </a:rPr>
              <a:t>תקשורת</a:t>
            </a:r>
            <a:r>
              <a:rPr sz="1400" b="1" dirty="0">
                <a:solidFill>
                  <a:srgbClr val="0D2D6B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D2D6B"/>
                </a:solidFill>
                <a:latin typeface="Arial"/>
              </a:rPr>
              <a:t>ישירה</a:t>
            </a:r>
            <a:endParaRPr sz="1400" b="1" dirty="0">
              <a:solidFill>
                <a:srgbClr val="0D2D6B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17920" y="1783080"/>
            <a:ext cx="23774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צ'אט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סוכן</a:t>
            </a:r>
            <a:r>
              <a:rPr sz="1300" dirty="0">
                <a:solidFill>
                  <a:srgbClr val="223355"/>
                </a:solidFill>
                <a:latin typeface="Arial"/>
              </a:rPr>
              <a:t>-מנהל</a:t>
            </a: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הערות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לכל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ביקור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התראות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מיידיות</a:t>
            </a:r>
            <a:endParaRPr sz="1300" dirty="0">
              <a:solidFill>
                <a:srgbClr val="223355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006840" y="1371600"/>
            <a:ext cx="2651760" cy="41148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dirty="0">
                <a:solidFill>
                  <a:srgbClr val="0D2D6B"/>
                </a:solidFill>
                <a:latin typeface="Arial"/>
              </a:rPr>
              <a:t>📱 </a:t>
            </a:r>
            <a:r>
              <a:rPr sz="1400" b="1" dirty="0" err="1">
                <a:solidFill>
                  <a:srgbClr val="0D2D6B"/>
                </a:solidFill>
                <a:latin typeface="Arial"/>
              </a:rPr>
              <a:t>מובייל</a:t>
            </a:r>
            <a:endParaRPr sz="1400" b="1" dirty="0">
              <a:solidFill>
                <a:srgbClr val="0D2D6B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0" y="1783080"/>
            <a:ext cx="23774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עובד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מכל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טלפון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ממשק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נוח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לשטח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ללא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התקנה</a:t>
            </a:r>
            <a:endParaRPr sz="1300" dirty="0">
              <a:solidFill>
                <a:srgbClr val="223355"/>
              </a:solidFill>
              <a:latin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ED014F-68C8-4F43-A503-A23E52AB5D1B}"/>
              </a:ext>
            </a:extLst>
          </p:cNvPr>
          <p:cNvSpPr/>
          <p:nvPr/>
        </p:nvSpPr>
        <p:spPr>
          <a:xfrm>
            <a:off x="2115045" y="5515154"/>
            <a:ext cx="760015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אין יותר לקוחות לא מנוהלים</a:t>
            </a:r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342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1800" b="1">
                <a:solidFill>
                  <a:srgbClr val="0D2D6B"/>
                </a:solidFill>
                <a:latin typeface="Arial"/>
              </a:rPr>
              <a:t>מה קורה כאן?</a:t>
            </a:r>
            <a:endParaRPr lang="he-IL" sz="1800" b="1" dirty="0">
              <a:solidFill>
                <a:srgbClr val="0D2D6B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 err="1">
                <a:solidFill>
                  <a:srgbClr val="FFFFFF"/>
                </a:solidFill>
                <a:latin typeface="Arial"/>
              </a:rPr>
              <a:t>מסך</a:t>
            </a:r>
            <a:r>
              <a:rPr sz="3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/>
              </a:rPr>
              <a:t>כניסה</a:t>
            </a:r>
            <a:endParaRPr sz="3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BBCCFF"/>
                </a:solidFill>
                <a:latin typeface="Arial"/>
              </a:rPr>
              <a:t>אבטחה, פשטות, ממשק נקי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DD"/>
                </a:solidFill>
                <a:latin typeface="Arial"/>
              </a:rPr>
              <a:t>UNICO Sales App — מערכת ניהול שטח</a:t>
            </a:r>
          </a:p>
        </p:txBody>
      </p:sp>
      <p:pic>
        <p:nvPicPr>
          <p:cNvPr id="8" name="Picture 7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140" y="1188720"/>
            <a:ext cx="5199529" cy="4389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11710" y="1362015"/>
            <a:ext cx="3657600" cy="4114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3150" y="139104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he-IL" sz="1400" b="1" dirty="0">
                <a:solidFill>
                  <a:srgbClr val="0D2D6B"/>
                </a:solidFill>
                <a:latin typeface="Arial"/>
              </a:rPr>
              <a:t>מה קורה כאן?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1710" y="1792665"/>
            <a:ext cx="347472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לוג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ו </a:t>
            </a:r>
            <a:r>
              <a:rPr sz="1300" dirty="0">
                <a:solidFill>
                  <a:srgbClr val="223355"/>
                </a:solidFill>
                <a:latin typeface="Arial"/>
              </a:rPr>
              <a:t>UNICO 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בולט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במרכז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שדות</a:t>
            </a:r>
            <a:r>
              <a:rPr sz="1300" dirty="0">
                <a:solidFill>
                  <a:srgbClr val="223355"/>
                </a:solidFill>
                <a:latin typeface="Arial"/>
              </a:rPr>
              <a:t>: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שם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משתמש</a:t>
            </a:r>
            <a:r>
              <a:rPr sz="1300" dirty="0">
                <a:solidFill>
                  <a:srgbClr val="223355"/>
                </a:solidFill>
                <a:latin typeface="Arial"/>
              </a:rPr>
              <a:t> +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סיסמה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כפתור</a:t>
            </a:r>
            <a:r>
              <a:rPr sz="1300" dirty="0">
                <a:solidFill>
                  <a:srgbClr val="223355"/>
                </a:solidFill>
                <a:latin typeface="Arial"/>
              </a:rPr>
              <a:t> "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כניסה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למערכת</a:t>
            </a:r>
            <a:r>
              <a:rPr lang="en-IL" sz="1300" dirty="0">
                <a:solidFill>
                  <a:srgbClr val="223355"/>
                </a:solidFill>
                <a:latin typeface="Arial"/>
              </a:rPr>
              <a:t>"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— כחול כהה</a:t>
            </a:r>
          </a:p>
          <a:p>
            <a:pPr algn="r" rtl="1"/>
            <a:r>
              <a:rPr lang="he-IL" sz="1300" dirty="0">
                <a:solidFill>
                  <a:srgbClr val="223355"/>
                </a:solidFill>
                <a:latin typeface="Arial"/>
              </a:rPr>
              <a:t> ◀כל סוכן מקבל חשבון אישי </a:t>
            </a: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כניסה ישירה למסך הרלוונטי של כל סוכן \ מנהל</a:t>
            </a:r>
            <a:endParaRPr sz="1300" dirty="0">
              <a:solidFill>
                <a:srgbClr val="223355"/>
              </a:solidFill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7C2FB1-59C2-4A9F-911A-51CCE7BC5F07}"/>
              </a:ext>
            </a:extLst>
          </p:cNvPr>
          <p:cNvSpPr txBox="1"/>
          <p:nvPr/>
        </p:nvSpPr>
        <p:spPr>
          <a:xfrm>
            <a:off x="4761345" y="1413748"/>
            <a:ext cx="61421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he-IL" sz="1400" b="1" dirty="0">
                <a:solidFill>
                  <a:srgbClr val="0D2D6B"/>
                </a:solidFill>
                <a:latin typeface="Arial"/>
              </a:rPr>
              <a:t>מסך ה </a:t>
            </a:r>
            <a:r>
              <a:rPr lang="en-US" sz="1400" b="1" dirty="0">
                <a:solidFill>
                  <a:srgbClr val="0D2D6B"/>
                </a:solidFill>
                <a:latin typeface="Arial"/>
              </a:rPr>
              <a:t>Login</a:t>
            </a:r>
            <a:endParaRPr lang="he-IL" sz="1400" b="1" dirty="0">
              <a:solidFill>
                <a:srgbClr val="0D2D6B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 err="1">
                <a:solidFill>
                  <a:srgbClr val="FFFFFF"/>
                </a:solidFill>
                <a:latin typeface="Arial"/>
              </a:rPr>
              <a:t>דשבורד</a:t>
            </a:r>
            <a:r>
              <a:rPr sz="3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/>
              </a:rPr>
              <a:t>הסוכן</a:t>
            </a:r>
            <a:r>
              <a:rPr sz="3200" b="1" dirty="0">
                <a:solidFill>
                  <a:srgbClr val="FFFFFF"/>
                </a:solidFill>
                <a:latin typeface="Arial"/>
              </a:rPr>
              <a:t> — </a:t>
            </a:r>
            <a:r>
              <a:rPr sz="3200" b="1" dirty="0" err="1">
                <a:solidFill>
                  <a:srgbClr val="FFFFFF"/>
                </a:solidFill>
                <a:latin typeface="Arial"/>
              </a:rPr>
              <a:t>רשימת</a:t>
            </a:r>
            <a:r>
              <a:rPr sz="3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/>
              </a:rPr>
              <a:t>חנויות</a:t>
            </a:r>
            <a:r>
              <a:rPr lang="he-IL" sz="3200" b="1" dirty="0">
                <a:solidFill>
                  <a:srgbClr val="FFFFFF"/>
                </a:solidFill>
                <a:latin typeface="Arial"/>
              </a:rPr>
              <a:t> מעודכן יומי</a:t>
            </a:r>
            <a:endParaRPr sz="3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BBCCFF"/>
                </a:solidFill>
                <a:latin typeface="Arial"/>
              </a:rPr>
              <a:t>כל הביקורים שנדרשים — במבט אחד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DD"/>
                </a:solidFill>
                <a:latin typeface="Arial"/>
              </a:rPr>
              <a:t>UNICO Sales App — מערכת ניהול שטח</a:t>
            </a:r>
          </a:p>
        </p:txBody>
      </p:sp>
      <p:pic>
        <p:nvPicPr>
          <p:cNvPr id="8" name="Picture 7" descr="02_ag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132320" cy="5120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43800" y="1371600"/>
            <a:ext cx="438912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417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D2D6B"/>
                </a:solidFill>
                <a:latin typeface="Arial"/>
              </a:rPr>
              <a:t>אלמנטים עיקריים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83080"/>
            <a:ext cx="411480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300" dirty="0">
                <a:solidFill>
                  <a:srgbClr val="223355"/>
                </a:solidFill>
                <a:latin typeface="Arial"/>
              </a:rPr>
              <a:t> ◀ לוח שנה — בחירת תאריך</a:t>
            </a:r>
          </a:p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ניווט תאריך </a:t>
            </a:r>
            <a:r>
              <a:rPr lang="en-US" sz="1300" dirty="0">
                <a:solidFill>
                  <a:srgbClr val="223355"/>
                </a:solidFill>
                <a:latin typeface="Arial"/>
              </a:rPr>
              <a:t>–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היום \ אתמול \מחר </a:t>
            </a:r>
          </a:p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 ◀ 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ספירה: נותרו \ בוצעו \ סה"כ היום</a:t>
            </a: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נקודה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צבועה</a:t>
            </a:r>
            <a:r>
              <a:rPr lang="en-US" sz="1300" dirty="0">
                <a:solidFill>
                  <a:srgbClr val="223355"/>
                </a:solidFill>
                <a:latin typeface="Arial"/>
              </a:rPr>
              <a:t> 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בירוק \ אדום </a:t>
            </a:r>
            <a:r>
              <a:rPr sz="1300" dirty="0">
                <a:solidFill>
                  <a:srgbClr val="223355"/>
                </a:solidFill>
                <a:latin typeface="Arial"/>
              </a:rPr>
              <a:t> =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סטטוס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ביקור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לחיצה</a:t>
            </a:r>
            <a:r>
              <a:rPr sz="1300" dirty="0">
                <a:solidFill>
                  <a:srgbClr val="223355"/>
                </a:solidFill>
                <a:latin typeface="Arial"/>
              </a:rPr>
              <a:t> על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חנות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--&gt;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פתיחת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כרטיס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צ'אט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עם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המנהל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–התכתבות בזמן אמת עם </a:t>
            </a:r>
            <a:r>
              <a:rPr lang="he-IL" sz="1300" dirty="0" err="1">
                <a:solidFill>
                  <a:srgbClr val="223355"/>
                </a:solidFill>
                <a:latin typeface="Arial"/>
              </a:rPr>
              <a:t>מהנל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לוח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שנה</a:t>
            </a:r>
            <a:r>
              <a:rPr sz="1300" dirty="0">
                <a:solidFill>
                  <a:srgbClr val="223355"/>
                </a:solidFill>
                <a:latin typeface="Arial"/>
              </a:rPr>
              <a:t> —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בחירת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תאריך</a:t>
            </a:r>
            <a:endParaRPr sz="1300" dirty="0">
              <a:solidFill>
                <a:srgbClr val="2233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כרטיס חנות — כניסה ויציאה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BBCCFF"/>
                </a:solidFill>
                <a:latin typeface="Arial"/>
              </a:rPr>
              <a:t>רישום ביקור מדויק עם שעה אוטומטית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DD"/>
                </a:solidFill>
                <a:latin typeface="Arial"/>
              </a:rPr>
              <a:t>UNICO Sales App — מערכת ניהול שטח</a:t>
            </a:r>
          </a:p>
        </p:txBody>
      </p:sp>
      <p:pic>
        <p:nvPicPr>
          <p:cNvPr id="8" name="Picture 7" descr="03_store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132320" cy="5120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43800" y="1371600"/>
            <a:ext cx="438912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417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D2D6B"/>
                </a:solidFill>
                <a:latin typeface="Arial"/>
              </a:rPr>
              <a:t>כפתורים ופעולות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83080"/>
            <a:ext cx="411480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שם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חנות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lang="en-IL" sz="1300" dirty="0">
                <a:solidFill>
                  <a:srgbClr val="223355"/>
                </a:solidFill>
                <a:latin typeface="Arial"/>
              </a:rPr>
              <a:t>+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ע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יר</a:t>
            </a:r>
            <a:r>
              <a:rPr sz="1300" dirty="0">
                <a:solidFill>
                  <a:srgbClr val="223355"/>
                </a:solidFill>
                <a:latin typeface="Arial"/>
              </a:rPr>
              <a:t>+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אזו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ר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קוד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לקוח</a:t>
            </a:r>
            <a:r>
              <a:rPr sz="1300" dirty="0">
                <a:solidFill>
                  <a:srgbClr val="223355"/>
                </a:solidFill>
                <a:latin typeface="Arial"/>
              </a:rPr>
              <a:t> +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ימי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ביקור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כפתור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כניסה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לחנות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- 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רחב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וברור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שעת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כניסה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נרשמת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אוטומטית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אפשרות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הפסקה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במהלך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ביקור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– השהיית ביקור</a:t>
            </a:r>
          </a:p>
          <a:p>
            <a:pPr algn="r" rtl="1"/>
            <a:r>
              <a:rPr lang="he-IL" sz="1300" dirty="0">
                <a:solidFill>
                  <a:srgbClr val="223355"/>
                </a:solidFill>
                <a:latin typeface="Arial"/>
              </a:rPr>
              <a:t> ◀</a:t>
            </a:r>
            <a:r>
              <a:rPr lang="he-IL" sz="1300" dirty="0" err="1">
                <a:solidFill>
                  <a:srgbClr val="223355"/>
                </a:solidFill>
                <a:latin typeface="Arial"/>
              </a:rPr>
              <a:t>ציאה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- מסיים ומחשב סה"כ זמן ביקור בחנות 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חזרה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לרשימה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בלחיצה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אחת</a:t>
            </a:r>
            <a:endParaRPr sz="1300" dirty="0">
              <a:solidFill>
                <a:srgbClr val="2233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הערות ושיחה עם המנהל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BBCCFF"/>
                </a:solidFill>
                <a:latin typeface="Arial"/>
              </a:rPr>
              <a:t>תיעוד מלא של כל ביקור + תקשורת ישירה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DD"/>
                </a:solidFill>
                <a:latin typeface="Arial"/>
              </a:rPr>
              <a:t>UNICO Sales App — מערכת ניהול שטח</a:t>
            </a:r>
          </a:p>
        </p:txBody>
      </p:sp>
      <p:pic>
        <p:nvPicPr>
          <p:cNvPr id="8" name="Picture 7" descr="04_store_n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132320" cy="5120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43800" y="1371600"/>
            <a:ext cx="438912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417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D2D6B"/>
                </a:solidFill>
                <a:latin typeface="Arial"/>
              </a:rPr>
              <a:t>תיעוד ותקשורת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83080"/>
            <a:ext cx="41148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שדה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הערות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חופשי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לתיאור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הביקור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מונה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תווים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בזמן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אמת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כפתור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שמור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-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אישור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חזותי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שיחה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ישירה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עם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המנהל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הודעות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מסודרות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לפי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זמן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היסטוריית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ביקורים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קודמים</a:t>
            </a:r>
            <a:endParaRPr sz="1300" dirty="0">
              <a:solidFill>
                <a:srgbClr val="2233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דף המנהל — סקירה כללית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BBCCFF"/>
                </a:solidFill>
                <a:latin typeface="Arial"/>
              </a:rPr>
              <a:t>כל הסוכנים, כל הביקורים — בזמן אמת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DD"/>
                </a:solidFill>
                <a:latin typeface="Arial"/>
              </a:rPr>
              <a:t>UNICO Sales App — מערכת ניהול שטח</a:t>
            </a:r>
          </a:p>
        </p:txBody>
      </p:sp>
      <p:pic>
        <p:nvPicPr>
          <p:cNvPr id="8" name="Picture 7" descr="05_manage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132320" cy="5120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43800" y="1371600"/>
            <a:ext cx="438912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417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D2D6B"/>
                </a:solidFill>
                <a:latin typeface="Arial"/>
              </a:rPr>
              <a:t>יכולות המנהל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83080"/>
            <a:ext cx="420624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כותרת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'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דף</a:t>
            </a:r>
            <a:r>
              <a:rPr sz="1300" dirty="0">
                <a:solidFill>
                  <a:srgbClr val="223355"/>
                </a:solidFill>
                <a:latin typeface="Arial"/>
              </a:rPr>
              <a:t> מנהל' +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תאריך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כרטיס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לכל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סוכן</a:t>
            </a:r>
            <a:r>
              <a:rPr sz="1300" dirty="0">
                <a:solidFill>
                  <a:srgbClr val="223355"/>
                </a:solidFill>
                <a:latin typeface="Arial"/>
              </a:rPr>
              <a:t>: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שם</a:t>
            </a:r>
            <a:r>
              <a:rPr sz="1300" dirty="0">
                <a:solidFill>
                  <a:srgbClr val="223355"/>
                </a:solidFill>
                <a:latin typeface="Arial"/>
              </a:rPr>
              <a:t>,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אזורים</a:t>
            </a:r>
            <a:r>
              <a:rPr sz="1300" dirty="0">
                <a:solidFill>
                  <a:srgbClr val="223355"/>
                </a:solidFill>
                <a:latin typeface="Arial"/>
              </a:rPr>
              <a:t>,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ביקורים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ביקורים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היום</a:t>
            </a:r>
            <a:r>
              <a:rPr sz="1300" dirty="0">
                <a:solidFill>
                  <a:srgbClr val="223355"/>
                </a:solidFill>
                <a:latin typeface="Arial"/>
              </a:rPr>
              <a:t> —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עדכון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חי</a:t>
            </a:r>
            <a:endParaRPr lang="he-IL"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lang="he-IL" sz="1300" dirty="0">
                <a:solidFill>
                  <a:srgbClr val="223355"/>
                </a:solidFill>
                <a:latin typeface="Arial"/>
              </a:rPr>
              <a:t> ◀ </a:t>
            </a:r>
            <a:r>
              <a:rPr lang="he-IL" sz="1300" dirty="0" err="1">
                <a:solidFill>
                  <a:srgbClr val="223355"/>
                </a:solidFill>
                <a:latin typeface="Arial"/>
              </a:rPr>
              <a:t>תראות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לטלפון </a:t>
            </a:r>
            <a:r>
              <a:rPr lang="en-US" sz="1300" dirty="0">
                <a:solidFill>
                  <a:srgbClr val="223355"/>
                </a:solidFill>
                <a:latin typeface="Arial"/>
              </a:rPr>
              <a:t>Web Push</a:t>
            </a:r>
            <a:endParaRPr lang="he-IL"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lang="he-IL" sz="1300" dirty="0">
                <a:solidFill>
                  <a:srgbClr val="223355"/>
                </a:solidFill>
                <a:latin typeface="Arial"/>
              </a:rPr>
              <a:t> ◀</a:t>
            </a:r>
            <a:r>
              <a:rPr lang="en-US" sz="1300" dirty="0">
                <a:solidFill>
                  <a:srgbClr val="223355"/>
                </a:solidFill>
                <a:latin typeface="Arial"/>
              </a:rPr>
              <a:t>Excel 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דוחות — סוכן / לקוח</a:t>
            </a:r>
            <a:endParaRPr lang="en-US"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חיפוש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לקוח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\ סוכן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לפי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שם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(לפי נתוני דאטה </a:t>
            </a:r>
            <a:r>
              <a:rPr lang="he-IL" sz="1300" dirty="0" err="1">
                <a:solidFill>
                  <a:srgbClr val="223355"/>
                </a:solidFill>
                <a:latin typeface="Arial"/>
              </a:rPr>
              <a:t>בייס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חדשני)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טאבים</a:t>
            </a:r>
            <a:r>
              <a:rPr sz="1300" dirty="0">
                <a:solidFill>
                  <a:srgbClr val="223355"/>
                </a:solidFill>
                <a:latin typeface="Arial"/>
              </a:rPr>
              <a:t>: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סקירה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\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התראות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\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ביקורים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\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דוחות</a:t>
            </a:r>
            <a:endParaRPr sz="1300" dirty="0">
              <a:solidFill>
                <a:srgbClr val="2233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 err="1">
                <a:solidFill>
                  <a:srgbClr val="FFFFFF"/>
                </a:solidFill>
                <a:latin typeface="Arial"/>
              </a:rPr>
              <a:t>טאב</a:t>
            </a:r>
            <a:r>
              <a:rPr sz="3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/>
              </a:rPr>
              <a:t>התראות</a:t>
            </a:r>
            <a:r>
              <a:rPr sz="32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he-IL" sz="3200" b="1" dirty="0">
                <a:solidFill>
                  <a:srgbClr val="FFFFFF"/>
                </a:solidFill>
                <a:latin typeface="Arial"/>
              </a:rPr>
              <a:t>- </a:t>
            </a:r>
            <a:r>
              <a:rPr sz="3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/>
              </a:rPr>
              <a:t>הודעות</a:t>
            </a:r>
            <a:r>
              <a:rPr sz="3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/>
              </a:rPr>
              <a:t>הסוכנים</a:t>
            </a:r>
            <a:endParaRPr sz="3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BBCCFF"/>
                </a:solidFill>
                <a:latin typeface="Arial"/>
              </a:rPr>
              <a:t>כל הודעה מהשטח מגיעה ישירות למנהל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DD"/>
                </a:solidFill>
                <a:latin typeface="Arial"/>
              </a:rPr>
              <a:t>UNICO Sales App — מערכת ניהול שטח</a:t>
            </a:r>
          </a:p>
        </p:txBody>
      </p:sp>
      <p:pic>
        <p:nvPicPr>
          <p:cNvPr id="8" name="Picture 7" descr="06_manager_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132320" cy="5120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43800" y="1371600"/>
            <a:ext cx="438912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417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D2D6B"/>
                </a:solidFill>
                <a:latin typeface="Arial"/>
              </a:rPr>
              <a:t>מערכת ההתראות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83080"/>
            <a:ext cx="41148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רשימת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כל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ההודעות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לפי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זמן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מי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שלח</a:t>
            </a:r>
            <a:r>
              <a:rPr sz="1300" dirty="0">
                <a:solidFill>
                  <a:srgbClr val="223355"/>
                </a:solidFill>
                <a:latin typeface="Arial"/>
              </a:rPr>
              <a:t> +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ש</a:t>
            </a:r>
            <a:r>
              <a:rPr sz="1300" dirty="0">
                <a:solidFill>
                  <a:srgbClr val="223355"/>
                </a:solidFill>
                <a:latin typeface="Arial"/>
              </a:rPr>
              <a:t>ם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חנות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+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תוכן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פילטר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לפי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סוכן</a:t>
            </a:r>
            <a:r>
              <a:rPr sz="1300" dirty="0">
                <a:solidFill>
                  <a:srgbClr val="223355"/>
                </a:solidFill>
                <a:latin typeface="Arial"/>
              </a:rPr>
              <a:t>: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כולם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\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גילי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\ </a:t>
            </a:r>
            <a:r>
              <a:rPr sz="1300" dirty="0">
                <a:solidFill>
                  <a:srgbClr val="223355"/>
                </a:solidFill>
                <a:latin typeface="Arial"/>
              </a:rPr>
              <a:t>אלי 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\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שיראל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כפתור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מחק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הודעה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לכל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שורה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אדום</a:t>
            </a:r>
            <a:r>
              <a:rPr sz="1300" dirty="0">
                <a:solidFill>
                  <a:srgbClr val="223355"/>
                </a:solidFill>
                <a:latin typeface="Arial"/>
              </a:rPr>
              <a:t> —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הודעות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שלא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נקראו</a:t>
            </a:r>
            <a:endParaRPr sz="1300" dirty="0">
              <a:solidFill>
                <a:srgbClr val="223355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רענון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אוטומטי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כל</a:t>
            </a:r>
            <a:r>
              <a:rPr lang="en-US" sz="1300" dirty="0">
                <a:solidFill>
                  <a:srgbClr val="223355"/>
                </a:solidFill>
                <a:latin typeface="Arial"/>
              </a:rPr>
              <a:t> X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23355"/>
                </a:solidFill>
                <a:latin typeface="Arial"/>
              </a:rPr>
              <a:t>שניות</a:t>
            </a:r>
            <a:endParaRPr sz="1300" dirty="0">
              <a:solidFill>
                <a:srgbClr val="2233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1800" b="1" i="0" dirty="0">
                <a:solidFill>
                  <a:srgbClr val="FFFFFF"/>
                </a:solidFill>
                <a:latin typeface="Arial"/>
              </a:rPr>
              <a:t>היתרונות המשמעותיים היומיומיים בעבודה עם </a:t>
            </a:r>
            <a:r>
              <a:rPr lang="he-IL" sz="1800" b="1" i="0" dirty="0" err="1">
                <a:solidFill>
                  <a:srgbClr val="FFFFFF"/>
                </a:solidFill>
                <a:latin typeface="Arial"/>
              </a:rPr>
              <a:t>אפליקיית</a:t>
            </a:r>
            <a:r>
              <a:rPr lang="he-IL" sz="1800" b="1" i="0" dirty="0">
                <a:solidFill>
                  <a:srgbClr val="FFFFFF"/>
                </a:solidFill>
                <a:latin typeface="Arial"/>
              </a:rPr>
              <a:t> הניהול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331012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10435" y="978408"/>
            <a:ext cx="5760720" cy="5554532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807746" y="1033272"/>
            <a:ext cx="5760720" cy="438912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84033" y="1060704"/>
            <a:ext cx="5760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 err="1">
                <a:solidFill>
                  <a:srgbClr val="FFFFFF"/>
                </a:solidFill>
                <a:latin typeface="Arial"/>
              </a:rPr>
              <a:t>תועלות</a:t>
            </a:r>
            <a:r>
              <a:rPr sz="14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Arial"/>
              </a:rPr>
              <a:t>מרכזיות</a:t>
            </a:r>
            <a:r>
              <a:rPr sz="14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Arial"/>
              </a:rPr>
              <a:t>לעסק</a:t>
            </a:r>
            <a:endParaRPr sz="14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949209" y="1818316"/>
            <a:ext cx="310896" cy="310896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49209" y="1772596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42401" y="1662868"/>
            <a:ext cx="5102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8A4A"/>
                </a:solidFill>
                <a:latin typeface="Arial"/>
              </a:rPr>
              <a:t>שקיפות מלאה בזמן אמת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42401" y="1964620"/>
            <a:ext cx="51023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1A1A2E"/>
                </a:solidFill>
                <a:latin typeface="Arial"/>
              </a:rPr>
              <a:t>מנהלים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רואים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את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כל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פעילות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השטח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lang="he-IL" sz="1200" b="0" i="0" dirty="0">
                <a:solidFill>
                  <a:srgbClr val="1A1A2E"/>
                </a:solidFill>
                <a:latin typeface="Arial"/>
              </a:rPr>
              <a:t>- 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ביקורים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,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הזמנות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ותקלות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lang="he-IL" sz="1200" dirty="0">
                <a:solidFill>
                  <a:srgbClr val="1A1A2E"/>
                </a:solidFill>
                <a:latin typeface="Arial"/>
              </a:rPr>
              <a:t>- 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בלחיצת</a:t>
            </a:r>
            <a:r>
              <a:rPr sz="1200" b="0" i="0" dirty="0">
                <a:solidFill>
                  <a:srgbClr val="1A1A2E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/>
              </a:rPr>
              <a:t>כפתור</a:t>
            </a:r>
            <a:endParaRPr sz="1200" b="0" i="0" dirty="0">
              <a:solidFill>
                <a:srgbClr val="1A1A2E"/>
              </a:solidFill>
              <a:latin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949209" y="2732716"/>
            <a:ext cx="54864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949209" y="2988748"/>
            <a:ext cx="310896" cy="310896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49209" y="2943028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42401" y="2833300"/>
            <a:ext cx="5102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8A4A"/>
                </a:solidFill>
                <a:latin typeface="Arial"/>
              </a:rPr>
              <a:t>ייעול עבודת הנציגים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42401" y="3135052"/>
            <a:ext cx="51023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ניהול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לקוחות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הזמנות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הערות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e-IL"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ותגובות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L"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הכל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ממסך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אחד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מכל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מקום</a:t>
            </a:r>
            <a:endParaRPr sz="1200" b="0" i="0" dirty="0">
              <a:solidFill>
                <a:srgbClr val="1A1A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949209" y="3903148"/>
            <a:ext cx="54864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949209" y="4159180"/>
            <a:ext cx="310896" cy="310896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49209" y="4113460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42401" y="4003732"/>
            <a:ext cx="5102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8A4A"/>
                </a:solidFill>
                <a:latin typeface="Arial"/>
              </a:rPr>
              <a:t>החלטות מבוססות נתונים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42401" y="4305484"/>
            <a:ext cx="51023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דוחות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אוטומטיים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מדדי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ביצוע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ברורים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ותמונת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מצב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מלאה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בכל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רגע</a:t>
            </a:r>
            <a:endParaRPr sz="1200" b="0" i="0" dirty="0">
              <a:solidFill>
                <a:srgbClr val="1A1A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949209" y="5073580"/>
            <a:ext cx="54864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949209" y="5329612"/>
            <a:ext cx="310896" cy="310896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949209" y="5283892"/>
            <a:ext cx="310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42401" y="5174164"/>
            <a:ext cx="5102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8A4A"/>
                </a:solidFill>
                <a:latin typeface="Arial"/>
              </a:rPr>
              <a:t>שיפור חוויית הלקוח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42401" y="5475916"/>
            <a:ext cx="51023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מעקב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מדויק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אחר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צרכים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מועדי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ביקור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והיסטוריה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L"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e-IL"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לקשרי</a:t>
            </a:r>
            <a:r>
              <a:rPr lang="he-IL"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e-IL"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עעסקים</a:t>
            </a:r>
            <a:r>
              <a:rPr lang="he-IL"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חזקים</a:t>
            </a:r>
            <a:r>
              <a:rPr sz="1200" b="0" i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i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יותר</a:t>
            </a:r>
            <a:endParaRPr sz="1200" b="0" i="0" dirty="0">
              <a:solidFill>
                <a:srgbClr val="1A1A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UNICO Sales App  |  פתרון ניהול שטח חכם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סיכום יכולות המערכת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560320"/>
            <a:ext cx="3474720" cy="3749039"/>
          </a:xfrm>
          <a:prstGeom prst="rect">
            <a:avLst/>
          </a:prstGeom>
          <a:solidFill>
            <a:srgbClr val="153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8C00"/>
                </a:solidFill>
                <a:latin typeface="Arial"/>
              </a:rPr>
              <a:t>📱 סוכן בשטח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08960"/>
            <a:ext cx="329184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סידור עבודה יומי \ שבועי \ חודשי קבוע וברור</a:t>
            </a:r>
          </a:p>
          <a:p>
            <a:pPr algn="r" rtl="1"/>
            <a:r>
              <a:rPr lang="he-IL" sz="1300" dirty="0">
                <a:solidFill>
                  <a:srgbClr val="CCDDFF"/>
                </a:solidFill>
                <a:latin typeface="Arial"/>
              </a:rPr>
              <a:t> </a:t>
            </a:r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רשימת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חנויות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לפי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יום</a:t>
            </a:r>
            <a:endParaRPr sz="1300" dirty="0">
              <a:solidFill>
                <a:srgbClr val="CCDDFF"/>
              </a:solidFill>
              <a:latin typeface="Arial"/>
            </a:endParaRPr>
          </a:p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כניס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ה \ השהייה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\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יציא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ה</a:t>
            </a:r>
            <a:endParaRPr sz="1300" dirty="0">
              <a:solidFill>
                <a:srgbClr val="CCDDFF"/>
              </a:solidFill>
              <a:latin typeface="Arial"/>
            </a:endParaRPr>
          </a:p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הערות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לכל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ביקור</a:t>
            </a:r>
            <a:endParaRPr sz="1300" dirty="0">
              <a:solidFill>
                <a:srgbClr val="CCDDFF"/>
              </a:solidFill>
              <a:latin typeface="Arial"/>
            </a:endParaRPr>
          </a:p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צ'אט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עם</a:t>
            </a:r>
            <a:r>
              <a:rPr sz="1300" dirty="0">
                <a:solidFill>
                  <a:srgbClr val="CCDDFF"/>
                </a:solidFill>
                <a:latin typeface="Arial"/>
              </a:rPr>
              <a:t> מנהל</a:t>
            </a:r>
          </a:p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היסטוריית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ביקורים</a:t>
            </a:r>
            <a:endParaRPr sz="1300" dirty="0">
              <a:solidFill>
                <a:srgbClr val="CCDDFF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0" y="2560320"/>
            <a:ext cx="3474720" cy="3749039"/>
          </a:xfrm>
          <a:prstGeom prst="rect">
            <a:avLst/>
          </a:prstGeom>
          <a:solidFill>
            <a:srgbClr val="153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8C00"/>
                </a:solidFill>
                <a:latin typeface="Arial"/>
              </a:rPr>
              <a:t>👑 מנהל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3108960"/>
            <a:ext cx="32004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</a:t>
            </a:r>
            <a:r>
              <a:rPr lang="he-IL" sz="1300" dirty="0" err="1">
                <a:solidFill>
                  <a:srgbClr val="CCDDFF"/>
                </a:solidFill>
                <a:latin typeface="Arial"/>
              </a:rPr>
              <a:t>מע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קב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סוכנים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בזמן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אמת</a:t>
            </a:r>
            <a:endParaRPr sz="1300" dirty="0">
              <a:solidFill>
                <a:srgbClr val="CCDDFF"/>
              </a:solidFill>
              <a:latin typeface="Arial"/>
            </a:endParaRPr>
          </a:p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>
                <a:solidFill>
                  <a:srgbClr val="CCDDFF"/>
                </a:solidFill>
                <a:latin typeface="Arial"/>
              </a:rPr>
              <a:t>ניהול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התראות</a:t>
            </a:r>
            <a:endParaRPr sz="1300" dirty="0">
              <a:solidFill>
                <a:srgbClr val="CCDDFF"/>
              </a:solidFill>
              <a:latin typeface="Arial"/>
            </a:endParaRPr>
          </a:p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דוחות</a:t>
            </a:r>
            <a:r>
              <a:rPr sz="1300" dirty="0">
                <a:solidFill>
                  <a:srgbClr val="CCDDFF"/>
                </a:solidFill>
                <a:latin typeface="Arial"/>
              </a:rPr>
              <a:t> Excel 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אוטומטיים</a:t>
            </a:r>
            <a:endParaRPr sz="1300" dirty="0">
              <a:solidFill>
                <a:srgbClr val="CCDDFF"/>
              </a:solidFill>
              <a:latin typeface="Arial"/>
            </a:endParaRPr>
          </a:p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 </a:t>
            </a:r>
            <a:r>
              <a:rPr lang="he-IL" sz="1300" dirty="0">
                <a:solidFill>
                  <a:srgbClr val="223355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דוח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יומי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בסוף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יום</a:t>
            </a:r>
            <a:endParaRPr sz="1300" dirty="0">
              <a:solidFill>
                <a:srgbClr val="CCDDFF"/>
              </a:solidFill>
              <a:latin typeface="Arial"/>
            </a:endParaRPr>
          </a:p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חיפוש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לקוחות</a:t>
            </a:r>
            <a:endParaRPr lang="he-IL" sz="1300" dirty="0">
              <a:solidFill>
                <a:srgbClr val="CCDDFF"/>
              </a:solidFill>
              <a:latin typeface="Arial"/>
            </a:endParaRPr>
          </a:p>
          <a:p>
            <a:pPr algn="r" rtl="1"/>
            <a:r>
              <a:rPr lang="he-IL" sz="1300" dirty="0">
                <a:solidFill>
                  <a:srgbClr val="223355"/>
                </a:solidFill>
                <a:latin typeface="Arial"/>
              </a:rPr>
              <a:t> ◀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 מעקב וידיעה שכל הלקוחות מטופלים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39" y="2560320"/>
            <a:ext cx="3822065" cy="3749039"/>
          </a:xfrm>
          <a:prstGeom prst="rect">
            <a:avLst/>
          </a:prstGeom>
          <a:solidFill>
            <a:srgbClr val="153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8C00"/>
                </a:solidFill>
                <a:latin typeface="Arial"/>
              </a:rPr>
              <a:t>⚙️ מערכת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108960"/>
            <a:ext cx="368490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 כלל ה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לקוחות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מעודכנים ומסודרים לפי אזור \      זמני חלוקה \ הגעה</a:t>
            </a:r>
            <a:endParaRPr sz="1300" dirty="0">
              <a:solidFill>
                <a:srgbClr val="CCDDFF"/>
              </a:solidFill>
              <a:latin typeface="Arial"/>
            </a:endParaRPr>
          </a:p>
          <a:p>
            <a:pPr algn="r" rtl="1"/>
            <a:r>
              <a:rPr lang="en-US" sz="1300" dirty="0">
                <a:solidFill>
                  <a:srgbClr val="CCDDFF"/>
                </a:solidFill>
                <a:latin typeface="Arial"/>
              </a:rPr>
              <a:t> </a:t>
            </a:r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ב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יקורים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לפי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שבוע</a:t>
            </a:r>
            <a:r>
              <a:rPr sz="1300" dirty="0">
                <a:solidFill>
                  <a:srgbClr val="CCDDFF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CCDDFF"/>
                </a:solidFill>
                <a:latin typeface="Arial"/>
              </a:rPr>
              <a:t>בחודש</a:t>
            </a:r>
            <a:endParaRPr sz="1300" dirty="0">
              <a:solidFill>
                <a:srgbClr val="CCDDFF"/>
              </a:solidFill>
              <a:latin typeface="Arial"/>
            </a:endParaRPr>
          </a:p>
          <a:p>
            <a:pPr algn="r" rtl="1"/>
            <a:r>
              <a:rPr sz="1300" dirty="0">
                <a:solidFill>
                  <a:srgbClr val="CCDDFF"/>
                </a:solidFill>
                <a:latin typeface="Arial"/>
              </a:rPr>
              <a:t>Web Push Notifications</a:t>
            </a:r>
            <a:r>
              <a:rPr lang="en-IL" sz="1300" dirty="0">
                <a:solidFill>
                  <a:srgbClr val="223355"/>
                </a:solidFill>
                <a:latin typeface="Arial"/>
              </a:rPr>
              <a:t> ◀</a:t>
            </a:r>
            <a:endParaRPr sz="1300" dirty="0">
              <a:solidFill>
                <a:srgbClr val="CCDDFF"/>
              </a:solidFill>
              <a:latin typeface="Arial"/>
            </a:endParaRPr>
          </a:p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 דאטה </a:t>
            </a:r>
            <a:r>
              <a:rPr lang="he-IL" sz="1300" dirty="0" err="1">
                <a:solidFill>
                  <a:srgbClr val="CCDDFF"/>
                </a:solidFill>
                <a:latin typeface="Arial"/>
              </a:rPr>
              <a:t>בייס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 חדשני </a:t>
            </a:r>
            <a:endParaRPr sz="1300" dirty="0">
              <a:solidFill>
                <a:srgbClr val="CCDDFF"/>
              </a:solidFill>
              <a:latin typeface="Arial"/>
            </a:endParaRPr>
          </a:p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שרת </a:t>
            </a:r>
            <a:r>
              <a:rPr lang="en-US" sz="1300" dirty="0">
                <a:solidFill>
                  <a:srgbClr val="CCDDFF"/>
                </a:solidFill>
                <a:latin typeface="Arial"/>
              </a:rPr>
              <a:t>Online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 אשר מאפשר זמינות </a:t>
            </a:r>
            <a:r>
              <a:rPr lang="en-US" sz="1300" dirty="0">
                <a:solidFill>
                  <a:srgbClr val="CCDDFF"/>
                </a:solidFill>
                <a:latin typeface="Arial"/>
              </a:rPr>
              <a:t>24/7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 </a:t>
            </a:r>
            <a:endParaRPr sz="1300" dirty="0">
              <a:solidFill>
                <a:srgbClr val="CCDDFF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88BB"/>
                </a:solidFill>
                <a:latin typeface="Arial"/>
              </a:rPr>
              <a:t>UNICO New Retail • מערכת ניהול שטח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6D3042-8EFF-48F2-AF3A-569257010C28}"/>
              </a:ext>
            </a:extLst>
          </p:cNvPr>
          <p:cNvSpPr/>
          <p:nvPr/>
        </p:nvSpPr>
        <p:spPr>
          <a:xfrm>
            <a:off x="7452360" y="1102449"/>
            <a:ext cx="4413058" cy="129266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he-IL" sz="1300" dirty="0">
                <a:solidFill>
                  <a:srgbClr val="CCDDFF"/>
                </a:solidFill>
                <a:latin typeface="Arial"/>
              </a:rPr>
              <a:t>כל הלקוחות מנוהלים – אין יותר לקוחות נטושים</a:t>
            </a:r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endParaRPr lang="he-IL" sz="1300" dirty="0">
              <a:solidFill>
                <a:srgbClr val="CCDDFF"/>
              </a:solidFill>
              <a:latin typeface="Arial"/>
            </a:endParaRPr>
          </a:p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כל סוכן יודע מראש את </a:t>
            </a:r>
            <a:r>
              <a:rPr lang="he-IL" sz="1300" dirty="0" err="1">
                <a:solidFill>
                  <a:srgbClr val="CCDDFF"/>
                </a:solidFill>
                <a:latin typeface="Arial"/>
              </a:rPr>
              <a:t>הלו"ז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 היומי שלו</a:t>
            </a:r>
          </a:p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מענה ומתן פתרונות בזמן אמת לכל בעיה מצד המנהל</a:t>
            </a:r>
          </a:p>
          <a:p>
            <a:pPr algn="r" rtl="1"/>
            <a:r>
              <a:rPr lang="en-IL" sz="1300" dirty="0">
                <a:solidFill>
                  <a:srgbClr val="CCDDFF"/>
                </a:solidFill>
                <a:latin typeface="Arial"/>
              </a:rPr>
              <a:t>◀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הפקת דוחות </a:t>
            </a:r>
          </a:p>
          <a:p>
            <a:pPr algn="r" rtl="1"/>
            <a:r>
              <a:rPr lang="en-IL" sz="1300" dirty="0">
                <a:solidFill>
                  <a:srgbClr val="223355"/>
                </a:solidFill>
                <a:latin typeface="Arial"/>
              </a:rPr>
              <a:t>◀</a:t>
            </a:r>
            <a:r>
              <a:rPr lang="he-IL" sz="1300" dirty="0">
                <a:solidFill>
                  <a:srgbClr val="CCDDFF"/>
                </a:solidFill>
                <a:latin typeface="Arial"/>
              </a:rPr>
              <a:t>מתן יכולות ניהול חכם ויעיל </a:t>
            </a:r>
          </a:p>
          <a:p>
            <a:pPr algn="ctr"/>
            <a:endParaRPr lang="he-IL" sz="1300" dirty="0">
              <a:solidFill>
                <a:srgbClr val="CCDD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890</Words>
  <Application>Microsoft Office PowerPoint</Application>
  <PresentationFormat>Custom</PresentationFormat>
  <Paragraphs>154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Ran Azoulay</dc:creator>
  <cp:keywords/>
  <dc:description>generated using python-pptx</dc:description>
  <cp:lastModifiedBy>Ran Azoulay</cp:lastModifiedBy>
  <cp:revision>8</cp:revision>
  <dcterms:created xsi:type="dcterms:W3CDTF">2013-01-27T09:14:16Z</dcterms:created>
  <dcterms:modified xsi:type="dcterms:W3CDTF">2026-04-30T08:24:40Z</dcterms:modified>
  <cp:category/>
</cp:coreProperties>
</file>